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6" r:id="rId2"/>
    <p:sldId id="278" r:id="rId3"/>
    <p:sldId id="284" r:id="rId4"/>
    <p:sldId id="257" r:id="rId5"/>
    <p:sldId id="285" r:id="rId6"/>
    <p:sldId id="286" r:id="rId7"/>
    <p:sldId id="287" r:id="rId8"/>
    <p:sldId id="256" r:id="rId9"/>
    <p:sldId id="258" r:id="rId10"/>
    <p:sldId id="262" r:id="rId11"/>
    <p:sldId id="263" r:id="rId12"/>
    <p:sldId id="264" r:id="rId13"/>
    <p:sldId id="265" r:id="rId14"/>
    <p:sldId id="267" r:id="rId15"/>
    <p:sldId id="268" r:id="rId16"/>
    <p:sldId id="270" r:id="rId17"/>
    <p:sldId id="271" r:id="rId18"/>
    <p:sldId id="272" r:id="rId19"/>
    <p:sldId id="279" r:id="rId20"/>
    <p:sldId id="28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D96883-E6BD-43D4-8CBB-7235BB321668}">
          <p14:sldIdLst>
            <p14:sldId id="276"/>
            <p14:sldId id="278"/>
            <p14:sldId id="284"/>
            <p14:sldId id="257"/>
            <p14:sldId id="285"/>
            <p14:sldId id="286"/>
            <p14:sldId id="287"/>
            <p14:sldId id="256"/>
            <p14:sldId id="258"/>
            <p14:sldId id="262"/>
            <p14:sldId id="263"/>
            <p14:sldId id="264"/>
            <p14:sldId id="265"/>
            <p14:sldId id="267"/>
            <p14:sldId id="268"/>
            <p14:sldId id="270"/>
            <p14:sldId id="271"/>
            <p14:sldId id="272"/>
            <p14:sldId id="279"/>
            <p14:sldId id="282"/>
            <p14:sldId id="273"/>
          </p14:sldIdLst>
        </p14:section>
        <p14:section name="Untitled Section" id="{A5BDAE99-C7F3-44F3-BDEE-D0D1831D701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9" autoAdjust="0"/>
    <p:restoredTop sz="94660"/>
  </p:normalViewPr>
  <p:slideViewPr>
    <p:cSldViewPr snapToGrid="0">
      <p:cViewPr varScale="1">
        <p:scale>
          <a:sx n="60" d="100"/>
          <a:sy n="60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7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2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3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6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0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344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72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2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26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68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7D2AF38-556F-4AAA-94A4-A24DE584F8E1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C01AC-ADF0-4604-85C6-B3430E40F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24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mrita-saha-data-scientist-data-analyst-data-engineer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C85D-F0EE-4BA1-5C77-8BBE9DDD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289"/>
            <a:ext cx="10515600" cy="1367422"/>
          </a:xfrm>
        </p:spPr>
        <p:txBody>
          <a:bodyPr/>
          <a:lstStyle/>
          <a:p>
            <a:pPr algn="ctr"/>
            <a:r>
              <a:rPr lang="en-US" b="1" dirty="0"/>
              <a:t>AN E-COMMERCE COMPANY'S PATH TO SUSTAINABLE GROWTH</a:t>
            </a:r>
          </a:p>
        </p:txBody>
      </p:sp>
    </p:spTree>
    <p:extLst>
      <p:ext uri="{BB962C8B-B14F-4D97-AF65-F5344CB8AC3E}">
        <p14:creationId xmlns:p14="http://schemas.microsoft.com/office/powerpoint/2010/main" val="4018469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71F7-F832-9219-748D-66F48687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5AFD-2357-7293-763B-7607EB83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757"/>
            <a:ext cx="10515600" cy="43698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COMPANY’S BACKGROUND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B3B6C2-A150-198C-ACDC-CCB0D1263303}"/>
              </a:ext>
            </a:extLst>
          </p:cNvPr>
          <p:cNvSpPr txBox="1">
            <a:spLocks/>
          </p:cNvSpPr>
          <p:nvPr/>
        </p:nvSpPr>
        <p:spPr>
          <a:xfrm>
            <a:off x="838200" y="1798721"/>
            <a:ext cx="10515600" cy="32605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E-commerce and Online Retail refer to the exchange of goods and services conducted through internet-based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These include Business-to-Business (B2B), Business-to-Consumer (B2C), and Consumer-to-Consumer (C2C) interactions.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Transactions are facilitated through websites, mobile applications, and online marketplaces.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Offers convenience, wider market access, efficient payment solutions, and digital record-keeping.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Rapidly expanding due to increased internet penetration, adoption of digital payment systems, and evolving consumer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624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059E-B763-0736-365D-3E82FA27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91E6-8DAB-C4CE-3FC1-A84CC9B9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756"/>
            <a:ext cx="10515600" cy="43698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PROBLEM STATEMENT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A1D1E1-44F9-2D01-1CB0-7F23280CBF05}"/>
              </a:ext>
            </a:extLst>
          </p:cNvPr>
          <p:cNvSpPr txBox="1">
            <a:spLocks/>
          </p:cNvSpPr>
          <p:nvPr/>
        </p:nvSpPr>
        <p:spPr>
          <a:xfrm>
            <a:off x="838200" y="850232"/>
            <a:ext cx="10515600" cy="600776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350E9-383A-F4FD-9654-79E523CB28CA}"/>
              </a:ext>
            </a:extLst>
          </p:cNvPr>
          <p:cNvSpPr txBox="1"/>
          <p:nvPr/>
        </p:nvSpPr>
        <p:spPr>
          <a:xfrm>
            <a:off x="1299411" y="1690062"/>
            <a:ext cx="95931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Operational Challenges</a:t>
            </a:r>
            <a:r>
              <a:rPr lang="en-US" sz="2000" dirty="0"/>
              <a:t>: Inefficiencies in inventory, order processing, shipping, and returns are disrupting smooth operations.</a:t>
            </a:r>
          </a:p>
          <a:p>
            <a:r>
              <a:rPr lang="en-US" sz="2000" b="1" dirty="0"/>
              <a:t>Impact on Growth &amp; Customers</a:t>
            </a:r>
            <a:r>
              <a:rPr lang="en-US" sz="2000" dirty="0"/>
              <a:t>: These issues hinder business growth and lower customer satisfaction through delays, errors, and poor service.</a:t>
            </a:r>
          </a:p>
          <a:p>
            <a:r>
              <a:rPr lang="en-US" sz="2000" b="1" dirty="0"/>
              <a:t>Data-Driven Approach</a:t>
            </a:r>
            <a:r>
              <a:rPr lang="en-US" sz="2000" dirty="0"/>
              <a:t>: The company is leveraging operational data to identify root causes and guide improvements.</a:t>
            </a:r>
          </a:p>
          <a:p>
            <a:r>
              <a:rPr lang="en-US" sz="2000" b="1" dirty="0"/>
              <a:t>Optimization &amp; Strategy</a:t>
            </a:r>
            <a:r>
              <a:rPr lang="en-US" sz="2000" dirty="0"/>
              <a:t>: Using insights to streamline processes, boost efficiency, and shift towards a data-driven, customer-focused business model.</a:t>
            </a:r>
          </a:p>
          <a:p>
            <a:r>
              <a:rPr lang="en-US" sz="2000" b="1" dirty="0"/>
              <a:t>Strategic Optimization</a:t>
            </a:r>
            <a:r>
              <a:rPr lang="en-US" sz="2000" dirty="0"/>
              <a:t>: Insights are used to streamline processes, reduce errors, and build a data-driven, customer-focused business.</a:t>
            </a:r>
          </a:p>
        </p:txBody>
      </p:sp>
    </p:spTree>
    <p:extLst>
      <p:ext uri="{BB962C8B-B14F-4D97-AF65-F5344CB8AC3E}">
        <p14:creationId xmlns:p14="http://schemas.microsoft.com/office/powerpoint/2010/main" val="233341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CAEEBA7-1BDE-2501-8A1A-7E6093B76A42}"/>
              </a:ext>
            </a:extLst>
          </p:cNvPr>
          <p:cNvSpPr txBox="1">
            <a:spLocks/>
          </p:cNvSpPr>
          <p:nvPr/>
        </p:nvSpPr>
        <p:spPr>
          <a:xfrm>
            <a:off x="838200" y="318922"/>
            <a:ext cx="10515600" cy="5954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/>
              <a:t>CHALLENGES</a:t>
            </a:r>
            <a:r>
              <a:rPr lang="en-US" sz="3200" dirty="0"/>
              <a:t> </a:t>
            </a:r>
            <a:endParaRPr lang="en-US" sz="3200" b="1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553B01B-A660-E308-4B58-F872F264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544" y="1798636"/>
            <a:ext cx="10321298" cy="3144254"/>
          </a:xfrm>
        </p:spPr>
        <p:txBody>
          <a:bodyPr/>
          <a:lstStyle/>
          <a:p>
            <a:r>
              <a:rPr lang="en-US" sz="2000" b="1" dirty="0"/>
              <a:t>Data Quality &amp; Preparation</a:t>
            </a:r>
            <a:r>
              <a:rPr lang="en-US" sz="2000" dirty="0"/>
              <a:t>: Addressing missing values, correcting data types (e.g., date conversion), and defining valid orders were essential for reliable analysis.</a:t>
            </a:r>
            <a:br>
              <a:rPr lang="en-US" sz="2000" dirty="0"/>
            </a:br>
            <a:r>
              <a:rPr lang="en-US" sz="2000" b="1" dirty="0"/>
              <a:t>Data Structuring</a:t>
            </a:r>
            <a:r>
              <a:rPr lang="en-US" sz="2000" dirty="0"/>
              <a:t>: Proper grouping by categories, states, cities, and fulfillment types required consistent categorization and handling inconsistencies.</a:t>
            </a:r>
            <a:br>
              <a:rPr lang="en-US" sz="2000" dirty="0"/>
            </a:br>
            <a:r>
              <a:rPr lang="en-US" sz="2000" b="1" dirty="0"/>
              <a:t>Business Interpretation</a:t>
            </a:r>
            <a:r>
              <a:rPr lang="en-US" sz="2000" dirty="0"/>
              <a:t>: Translating metrics like cancellations, AOV, and fulfillment performance into actionable insights demanded strong business context.</a:t>
            </a:r>
            <a:br>
              <a:rPr lang="en-US" sz="2000" dirty="0"/>
            </a:br>
            <a:r>
              <a:rPr lang="en-US" sz="2000" b="1" dirty="0"/>
              <a:t>Data Limitations</a:t>
            </a:r>
            <a:r>
              <a:rPr lang="en-US" sz="2000" dirty="0"/>
              <a:t>: The dataset lacked additional inputs (e.g., demographics, marketing, customer feedback), restricting deeper insights into customer behavior and market trends.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074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BF15-11F8-A365-EC35-4BBF5619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32B1806C-8F0F-1A85-B0D7-753CBA2896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92BF4C-A27B-1F13-0FE8-FB7508A92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BC9D98-3A2C-7221-F479-160623CE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2" y="368968"/>
            <a:ext cx="10888595" cy="60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1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A45D-6991-B564-0A38-20F80CF0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875BEA-9531-BC58-30B6-5F6A1C315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586" y="226276"/>
            <a:ext cx="8825658" cy="479576"/>
          </a:xfrm>
        </p:spPr>
        <p:txBody>
          <a:bodyPr/>
          <a:lstStyle/>
          <a:p>
            <a:pPr algn="ctr"/>
            <a:r>
              <a:rPr lang="en-US" sz="3200" b="1" dirty="0"/>
              <a:t>KPIS AND THEIR FORMULAS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4980E-52C8-8B2E-D792-BCF23137D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5" y="1895390"/>
            <a:ext cx="9882090" cy="861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D67CC4-747C-3A50-DEAE-573993134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" y="2995017"/>
            <a:ext cx="2343477" cy="1705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6D8594-2218-EA39-4289-755621541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718" y="2995018"/>
            <a:ext cx="2343477" cy="861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DFFC6-FF60-8590-C289-12B610083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7321" y="2995016"/>
            <a:ext cx="1962424" cy="8614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88F9E2-8719-7E1F-76A0-EA7E3A338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829" y="2995012"/>
            <a:ext cx="3860185" cy="8614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E49E0D-09C3-B0E7-67E2-B26EE45D6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489" y="3926400"/>
            <a:ext cx="8233525" cy="77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21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724C-DBF6-8B56-F2C6-B53D7639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FA4040-CD2F-E256-6B04-EE77D48E7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586" y="306486"/>
            <a:ext cx="8825658" cy="479576"/>
          </a:xfrm>
        </p:spPr>
        <p:txBody>
          <a:bodyPr/>
          <a:lstStyle/>
          <a:p>
            <a:pPr algn="ctr"/>
            <a:r>
              <a:rPr lang="en-US" sz="3200" b="1" dirty="0"/>
              <a:t>KPIS AND THEIR FORMULAS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BE3A23-C0E4-1F69-23AA-E5F1AF9B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955" y="1040379"/>
            <a:ext cx="98820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 excludes cancelled orders by checking the “Status”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order is cancelled, revenue is counted as 0; otherwise,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“Amount”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included.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B801F-970C-659B-A3CC-28D0838347C3}"/>
              </a:ext>
            </a:extLst>
          </p:cNvPr>
          <p:cNvSpPr txBox="1"/>
          <p:nvPr/>
        </p:nvSpPr>
        <p:spPr>
          <a:xfrm>
            <a:off x="1154955" y="2060576"/>
            <a:ext cx="98820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Order Value (AOV)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Calculated using the </a:t>
            </a:r>
            <a:r>
              <a:rPr lang="en-US" b="1" dirty="0"/>
              <a:t>median of total revenue per order</a:t>
            </a:r>
            <a:r>
              <a:rPr lang="en-US" dirty="0"/>
              <a:t>, which provides a measure of typical customer spending.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B36AFD-34B9-01BE-339A-D79195855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955" y="2967335"/>
            <a:ext cx="98820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of Orders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Simply counts the number of unique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 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s, giving the total order volume.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B54BF6-F0F6-252A-F85E-A5B805AA9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955" y="3655005"/>
            <a:ext cx="98820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Cancelled Orders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condition to identify orders where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contains “Cancelled” and counts them separately.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11622F-5331-E883-7280-0839567FBDC4}"/>
              </a:ext>
            </a:extLst>
          </p:cNvPr>
          <p:cNvSpPr txBox="1"/>
          <p:nvPr/>
        </p:nvSpPr>
        <p:spPr>
          <a:xfrm>
            <a:off x="1154955" y="4549676"/>
            <a:ext cx="98820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Cancellation Rate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Ratio of cancelled orders to total orders, expressed as a percentage:</a:t>
            </a:r>
            <a:br>
              <a:rPr lang="en-US" dirty="0"/>
            </a:br>
            <a:r>
              <a:rPr lang="en-US" dirty="0"/>
              <a:t>(CancelledOrders ÷ TotalOrders)×100(Cancelled Orders ÷ Total Orders) × 100(CancelledOrders ÷ TotalOrders)×100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measure order reliability and customer experience issues.</a:t>
            </a:r>
          </a:p>
        </p:txBody>
      </p:sp>
    </p:spTree>
    <p:extLst>
      <p:ext uri="{BB962C8B-B14F-4D97-AF65-F5344CB8AC3E}">
        <p14:creationId xmlns:p14="http://schemas.microsoft.com/office/powerpoint/2010/main" val="237273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5A30-F7FB-0500-7A54-574B864D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130"/>
            <a:ext cx="9144000" cy="4778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FINANCIAL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F6A9A-4709-2989-BEF9-797E81F69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674"/>
            <a:ext cx="9144000" cy="741947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dirty="0"/>
          </a:p>
          <a:p>
            <a:pPr algn="l"/>
            <a:r>
              <a:rPr lang="en-US" sz="9600" dirty="0"/>
              <a:t>Analyzing total revenue growth over time.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95FBECF-3DB4-A49D-A116-1D2D334DF145}"/>
              </a:ext>
            </a:extLst>
          </p:cNvPr>
          <p:cNvSpPr txBox="1">
            <a:spLocks/>
          </p:cNvSpPr>
          <p:nvPr/>
        </p:nvSpPr>
        <p:spPr>
          <a:xfrm>
            <a:off x="1524000" y="1379621"/>
            <a:ext cx="9144000" cy="74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  <a:p>
            <a:pPr algn="l"/>
            <a:r>
              <a:rPr lang="en-US" sz="9600" dirty="0"/>
              <a:t>          Total Revenue Growth Over Time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 </a:t>
            </a:r>
          </a:p>
        </p:txBody>
      </p:sp>
      <p:pic>
        <p:nvPicPr>
          <p:cNvPr id="13" name="Graphic 12" descr="Upward trend with solid fill">
            <a:extLst>
              <a:ext uri="{FF2B5EF4-FFF2-40B4-BE49-F238E27FC236}">
                <a16:creationId xmlns:a16="http://schemas.microsoft.com/office/drawing/2014/main" id="{F79B6C2A-5961-7ACC-D4DF-55DFB19F5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1433763"/>
            <a:ext cx="633662" cy="633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C28AD5-B10E-58FD-BDFC-820D8F68C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158" y="2719135"/>
            <a:ext cx="3352800" cy="2759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22F55B-FE08-AF4B-78F0-EB743F349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991" y="3429000"/>
            <a:ext cx="685895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8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A7A4-19ED-B983-D8B7-EB27A1C2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4556E0-A91F-FD01-DCB7-2B5D41E76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66009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Identifying best-selling products and seasonal sales trends.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18F1AC-B974-841D-F15E-2797EF92AD9D}"/>
              </a:ext>
            </a:extLst>
          </p:cNvPr>
          <p:cNvSpPr txBox="1">
            <a:spLocks/>
          </p:cNvSpPr>
          <p:nvPr/>
        </p:nvSpPr>
        <p:spPr>
          <a:xfrm>
            <a:off x="1654853" y="262941"/>
            <a:ext cx="914400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FINANCIAL PERFORMANCE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13E30-2263-72DA-D0DE-AA355B6AE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1438222"/>
            <a:ext cx="886901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4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EA0F-34CB-02DE-3378-5976AF12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54C8-AD49-B594-AC12-F4CD21CC2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CUSTOMER INSIGHTS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05CCD-D5F9-DE21-B244-37A0A1C5D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673"/>
            <a:ext cx="9144000" cy="606049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Identifying top-performing locations based on sales volume.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Top States                                                   Top Cities  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Maharashtra, Karnataka and Tamil Nadu dominate both in volume and revenue, with Bengaluru and Hyderabad leading among cities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F3D07-F3A7-441C-F514-510B533B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3" y="1527603"/>
            <a:ext cx="8688012" cy="1883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B3D38B-8A0E-D7CD-6D5E-B974DAD6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93" y="3446966"/>
            <a:ext cx="8688011" cy="18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48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7B2BD-8D7D-7C45-233A-9E603FE9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448B9B-FEBA-CED6-4C32-41D399E6E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674"/>
            <a:ext cx="9144000" cy="47783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Analyzing order cancellation trends and customer retention. 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C0B8A8-0807-BCDD-7D21-A20FB3EE02EF}"/>
              </a:ext>
            </a:extLst>
          </p:cNvPr>
          <p:cNvSpPr txBox="1">
            <a:spLocks/>
          </p:cNvSpPr>
          <p:nvPr/>
        </p:nvSpPr>
        <p:spPr>
          <a:xfrm>
            <a:off x="1524000" y="159836"/>
            <a:ext cx="914400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/>
              <a:t>CUSTOMER INSIGHTS ANALYSIS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6DED72-9026-1D3E-9A16-FF8294D2D736}"/>
              </a:ext>
            </a:extLst>
          </p:cNvPr>
          <p:cNvSpPr txBox="1">
            <a:spLocks/>
          </p:cNvSpPr>
          <p:nvPr/>
        </p:nvSpPr>
        <p:spPr>
          <a:xfrm>
            <a:off x="1524000" y="3996654"/>
            <a:ext cx="9144000" cy="2452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Overall cancellation rate: 14..22%</a:t>
            </a:r>
          </a:p>
          <a:p>
            <a:pPr algn="l"/>
            <a:r>
              <a:rPr lang="en-US" sz="2000" dirty="0"/>
              <a:t>Customer Retention: 52.23%</a:t>
            </a:r>
          </a:p>
          <a:p>
            <a:pPr algn="l"/>
            <a:r>
              <a:rPr lang="en-US" sz="2000" b="1" dirty="0"/>
              <a:t>April has highest number of cancellations. This could be due to inventory, fulfillment, or seasonal demand fluctuations.</a:t>
            </a:r>
          </a:p>
          <a:p>
            <a:pPr algn="l"/>
            <a:r>
              <a:rPr lang="en-US" sz="2000" b="1" dirty="0"/>
              <a:t>Over half of the locations have placed more than one order, indicating moderate retention. This can be improved with loyalty programs or personalized follow-ups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92C2A-5681-680E-012C-BC5A0BC7F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961" y="1066075"/>
            <a:ext cx="2183239" cy="2797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08432B-067E-0EAA-385F-5AEDCA9D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180" y="1066075"/>
            <a:ext cx="5258859" cy="28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6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46EC-0752-42C6-BB0D-3EDB190D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1B065B5-34FD-AA23-5BDA-FF0A4E8D1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CUSTOMER INSIGHTS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FAD1D-1CBE-4756-0095-D544E4DDD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673"/>
            <a:ext cx="9144000" cy="576312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Differentiating B2B vs. B2C customer behavior for targeted marketing.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B2B is the dominant customer segment in volume and revenue.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B2B orders are fewer but slow slightly higher average value per order-suggesting bulk or premium purchases.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Both segments order approximately 1 item per order, indicating limited bundling or multi-item carts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D6964-8A89-2FBA-98D6-0B58AF7C7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147" y="1474026"/>
            <a:ext cx="5983705" cy="195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9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7FC3-9679-CC26-325C-6C67198E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961D-2992-AE10-8ACF-232D59BCE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LOGISTICS &amp; FULFILLMENT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8E120-0B9F-2324-3517-74DFBCB50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673"/>
            <a:ext cx="9144000" cy="5763127"/>
          </a:xfrm>
        </p:spPr>
        <p:txBody>
          <a:bodyPr>
            <a:normAutofit/>
          </a:bodyPr>
          <a:lstStyle/>
          <a:p>
            <a:r>
              <a:rPr lang="en-US" b="1" dirty="0"/>
              <a:t>Shipping Service Level vs Fulfillment</a:t>
            </a:r>
          </a:p>
          <a:p>
            <a:pPr algn="l"/>
            <a:endParaRPr lang="en-US" dirty="0"/>
          </a:p>
          <a:p>
            <a:pPr algn="l"/>
            <a:endParaRPr lang="en-US" sz="2000" b="1" dirty="0"/>
          </a:p>
          <a:p>
            <a:pPr algn="l"/>
            <a:endParaRPr lang="en-US" b="1" dirty="0"/>
          </a:p>
          <a:p>
            <a:r>
              <a:rPr lang="en-US" b="1" dirty="0"/>
              <a:t>Amazon vs Merchant fulfillment</a:t>
            </a:r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sz="2000" b="1" dirty="0"/>
          </a:p>
          <a:p>
            <a:pPr algn="l"/>
            <a:endParaRPr lang="en-US" b="1" dirty="0"/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Amazon-fulfilled orders show some cancellations and unshipped issues- possibly due to system updates or operational handoffs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Merchant-fulfilled orders are more cleanly categorized (either shipped or not present).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7F021-73D2-5BF3-AE88-CF956931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379" y="1019258"/>
            <a:ext cx="4283241" cy="1346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9B51AD-CDA5-B730-32A0-1844FD61D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356" y="2757624"/>
            <a:ext cx="2775285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85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E8E6-0B4F-CB29-D9AA-C8BA1BAC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4FA1-19B1-2EE9-B872-F157E442C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920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LOGISTICS &amp; FULFILLMENT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FC59B-0E0A-EA95-DEFF-54DAF1E6C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64203"/>
            <a:ext cx="9144000" cy="352959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cap="none" dirty="0"/>
              <a:t>Improving order processing for faster deliveries.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cap="none" dirty="0">
                <a:solidFill>
                  <a:schemeClr val="tx1"/>
                </a:solidFill>
              </a:rPr>
              <a:t>Optimize standard shipping offers</a:t>
            </a:r>
            <a:r>
              <a:rPr lang="en-US" sz="2000" i="1" cap="none" dirty="0">
                <a:solidFill>
                  <a:schemeClr val="tx1"/>
                </a:solidFill>
              </a:rPr>
              <a:t>: Promote standard delivery for low urgency </a:t>
            </a:r>
            <a:r>
              <a:rPr lang="en-US" sz="2000" i="1" cap="none" dirty="0" err="1">
                <a:solidFill>
                  <a:schemeClr val="tx1"/>
                </a:solidFill>
              </a:rPr>
              <a:t>skus</a:t>
            </a:r>
            <a:r>
              <a:rPr lang="en-US" sz="2000" i="1" cap="none" dirty="0">
                <a:solidFill>
                  <a:schemeClr val="tx1"/>
                </a:solidFill>
              </a:rPr>
              <a:t> to reduce expedited shipping costs.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cap="none" dirty="0">
                <a:solidFill>
                  <a:schemeClr val="tx1"/>
                </a:solidFill>
              </a:rPr>
              <a:t>Leverage amazon fulfillment for high-volume </a:t>
            </a:r>
            <a:r>
              <a:rPr lang="en-US" sz="2000" b="1" i="1" cap="none" dirty="0" err="1">
                <a:solidFill>
                  <a:schemeClr val="tx1"/>
                </a:solidFill>
              </a:rPr>
              <a:t>skus</a:t>
            </a:r>
            <a:r>
              <a:rPr lang="en-US" sz="2000" b="1" i="1" cap="none" dirty="0">
                <a:solidFill>
                  <a:schemeClr val="tx1"/>
                </a:solidFill>
              </a:rPr>
              <a:t>: </a:t>
            </a:r>
            <a:r>
              <a:rPr lang="en-US" b="1" i="1" cap="none" dirty="0">
                <a:solidFill>
                  <a:schemeClr val="tx1"/>
                </a:solidFill>
              </a:rPr>
              <a:t>C</a:t>
            </a:r>
            <a:r>
              <a:rPr lang="en-US" sz="2000" i="1" cap="none" dirty="0">
                <a:solidFill>
                  <a:schemeClr val="tx1"/>
                </a:solidFill>
              </a:rPr>
              <a:t>onsider migrating top-selling or frequently returned items to amazon fulfillment to benefit from their high processing speed.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cap="none" dirty="0">
                <a:solidFill>
                  <a:schemeClr val="tx1"/>
                </a:solidFill>
              </a:rPr>
              <a:t>Investigate unshipped amazon orders: </a:t>
            </a:r>
            <a:r>
              <a:rPr lang="en-US" b="1" i="1" cap="none" dirty="0">
                <a:solidFill>
                  <a:schemeClr val="tx1"/>
                </a:solidFill>
              </a:rPr>
              <a:t>T</a:t>
            </a:r>
            <a:r>
              <a:rPr lang="en-US" sz="2000" i="1" cap="none" dirty="0">
                <a:solidFill>
                  <a:schemeClr val="tx1"/>
                </a:solidFill>
              </a:rPr>
              <a:t>he 116 unshipped records under amazon suggest potential syncing issues or backorder delays – requiring follow-up.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cap="none" dirty="0">
                <a:solidFill>
                  <a:schemeClr val="tx1"/>
                </a:solidFill>
              </a:rPr>
              <a:t>Monitor daily merchant capacity:</a:t>
            </a:r>
            <a:r>
              <a:rPr lang="en-US" sz="2000" i="1" cap="none" dirty="0">
                <a:solidFill>
                  <a:schemeClr val="tx1"/>
                </a:solidFill>
              </a:rPr>
              <a:t> Merchants should not exceed their 200-250 daily shipment threshold without expanding resources.</a:t>
            </a:r>
            <a:endParaRPr lang="en-US" sz="2000" b="1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05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4D4D-4E9B-D9DC-0458-663A2661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41F5-AEF1-7149-49DF-0D8190619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8883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PRODUCT MANAGEMENT &amp; INVENTORY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92D5B-DE05-0D50-87DC-461428636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3309" y="1026694"/>
            <a:ext cx="4253954" cy="62221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200" b="1" dirty="0"/>
              <a:t>Identifying high-demand product categories. </a:t>
            </a:r>
          </a:p>
          <a:p>
            <a:pPr algn="l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346CF-BDAC-981C-199A-11F2B447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08" y="2004430"/>
            <a:ext cx="4253954" cy="4711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D323A-5D21-0FE4-2074-79E1E0F5A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05" y="1997827"/>
            <a:ext cx="4253954" cy="471177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709C161-CA57-DB06-A3D8-1FF45830BA98}"/>
              </a:ext>
            </a:extLst>
          </p:cNvPr>
          <p:cNvSpPr txBox="1">
            <a:spLocks/>
          </p:cNvSpPr>
          <p:nvPr/>
        </p:nvSpPr>
        <p:spPr>
          <a:xfrm>
            <a:off x="6898103" y="905376"/>
            <a:ext cx="4253955" cy="923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Analyzing the average quantity ordered for efficient stock management. </a:t>
            </a:r>
          </a:p>
        </p:txBody>
      </p:sp>
    </p:spTree>
    <p:extLst>
      <p:ext uri="{BB962C8B-B14F-4D97-AF65-F5344CB8AC3E}">
        <p14:creationId xmlns:p14="http://schemas.microsoft.com/office/powerpoint/2010/main" val="465633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8AC1-1873-8ACE-1FC6-C6F5EB7E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C2DB-1CE4-84AF-CB5D-3CE1CC45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55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PRODUCT MANAGEMENT &amp; INVENTORY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0FD96-6C9A-3F35-889A-B7BDA8BD1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7858"/>
            <a:ext cx="9144000" cy="5297321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cap="none" dirty="0"/>
              <a:t>Enhancing inventory control to prevent stockouts or overstocking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</a:rPr>
              <a:t>1.Critical stock categories: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Set and kurta: Require active inventory monitoring due to high demand.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Consider dynamic restocking (weekly/monthly) based on rolling average sales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</a:rPr>
              <a:t>2.Low velocity / overstock risk: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Dupatta, saree, bottom: Low order count and volume. Optimize stocking and avoid bulk replenishment.</a:t>
            </a:r>
          </a:p>
          <a:p>
            <a:pPr algn="l"/>
            <a:r>
              <a:rPr lang="en-US" cap="none" dirty="0">
                <a:solidFill>
                  <a:schemeClr val="tx1"/>
                </a:solidFill>
              </a:rPr>
              <a:t>3.Stocking strategy: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Maintain a "min-max" stock level policy using historical average quantity and sales velocity.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</a:rPr>
              <a:t>Example: if kurtas sell ~1 per order, and 45,000 units were sold in total, keep safety stock based on peak season sales rate.</a:t>
            </a:r>
          </a:p>
        </p:txBody>
      </p:sp>
    </p:spTree>
    <p:extLst>
      <p:ext uri="{BB962C8B-B14F-4D97-AF65-F5344CB8AC3E}">
        <p14:creationId xmlns:p14="http://schemas.microsoft.com/office/powerpoint/2010/main" val="145276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8511-3560-4F10-2E92-DD05C2E8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95C-BBE0-9E32-8CBC-AB01E37BF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130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CUSTOMER SATISFACTION &amp; RETURNS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D769A-A395-3497-1B8A-27A42BE97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66009"/>
            <a:ext cx="9144000" cy="576312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Investigating high return and cancellation rates.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9C91F-2FD8-3A65-A1D7-9D14F5CA6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18352"/>
            <a:ext cx="9144000" cy="424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55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27F9-5EE8-91E8-FE82-C1317C65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99CD-1C35-D30C-3599-6676D5806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CUSTOMER SATISFACTION &amp; RETURNS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D488A-88F5-7AF0-77EE-52CFE1841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6" y="637673"/>
            <a:ext cx="10266948" cy="6220327"/>
          </a:xfrm>
        </p:spPr>
        <p:txBody>
          <a:bodyPr>
            <a:normAutofit fontScale="92500"/>
          </a:bodyPr>
          <a:lstStyle/>
          <a:p>
            <a:pPr algn="l"/>
            <a:r>
              <a:rPr lang="en-US" b="1" dirty="0"/>
              <a:t>Identifying problematic products/categories to enhance quality.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Set</a:t>
            </a:r>
            <a:r>
              <a:rPr lang="en-US" dirty="0">
                <a:solidFill>
                  <a:schemeClr val="tx1"/>
                </a:solidFill>
              </a:rPr>
              <a:t>, </a:t>
            </a:r>
            <a:r>
              <a:rPr lang="en-US" b="1" dirty="0">
                <a:solidFill>
                  <a:schemeClr val="tx1"/>
                </a:solidFill>
              </a:rPr>
              <a:t>Kurta</a:t>
            </a:r>
            <a:r>
              <a:rPr lang="en-US" dirty="0">
                <a:solidFill>
                  <a:schemeClr val="tx1"/>
                </a:solidFill>
              </a:rPr>
              <a:t>, </a:t>
            </a:r>
            <a:r>
              <a:rPr lang="en-US" b="1" dirty="0">
                <a:solidFill>
                  <a:schemeClr val="tx1"/>
                </a:solidFill>
              </a:rPr>
              <a:t>Western Dress</a:t>
            </a:r>
            <a:r>
              <a:rPr lang="en-US" dirty="0">
                <a:solidFill>
                  <a:schemeClr val="tx1"/>
                </a:solidFill>
              </a:rPr>
              <a:t>, </a:t>
            </a:r>
            <a:r>
              <a:rPr lang="en-US" b="1" dirty="0">
                <a:solidFill>
                  <a:schemeClr val="tx1"/>
                </a:solidFill>
              </a:rPr>
              <a:t>Bottom</a:t>
            </a:r>
            <a:r>
              <a:rPr lang="en-US" dirty="0">
                <a:solidFill>
                  <a:schemeClr val="tx1"/>
                </a:solidFill>
              </a:rPr>
              <a:t> are the most problematic categories each with 15 - 16% Issue Rate</a:t>
            </a:r>
          </a:p>
          <a:p>
            <a:pPr algn="l"/>
            <a:r>
              <a:rPr lang="en-US" b="1" dirty="0"/>
              <a:t>Improving customer experience through better service policies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Product Quality Checks: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 returns indicate possible fit/size issues or misleading photos/ descriptions.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Prioritize QC for Sets, Kurtas, and Western Dresses.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Size &amp; Fit Guidance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Include detailed size charts, model sizing references, and customer feedback summaries on product pages.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Flexible Cancellation/Return Windows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Early cancellations may be due to buyer’s remorse or unclear shipping expectations.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Consider adding "cancel within 1 hour" button to reduce downstream fulfillment waste.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Enhanced Product Descriptions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 top-cancelled SKUs, review and revise product titles, images, fabric info, and return policy visibility.</a:t>
            </a:r>
          </a:p>
          <a:p>
            <a:pPr algn="l"/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873462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19B2-9145-0F46-0A16-C422FBA8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2D09-E5BC-277D-FDBA-316177F38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CONCLUSION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80A18-4C75-8452-2F37-A2A776AE7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6" y="796089"/>
            <a:ext cx="10266948" cy="5265822"/>
          </a:xfrm>
        </p:spPr>
        <p:txBody>
          <a:bodyPr>
            <a:normAutofit/>
          </a:bodyPr>
          <a:lstStyle/>
          <a:p>
            <a:r>
              <a:rPr lang="en-US" sz="1800" cap="none" dirty="0">
                <a:solidFill>
                  <a:schemeClr val="tx1"/>
                </a:solidFill>
              </a:rPr>
              <a:t>Based on the comprehensive analysis of the sales data, several key insights have been identified across various aspects of the business: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Financial performance</a:t>
            </a:r>
            <a:r>
              <a:rPr lang="en-US" sz="1800" cap="none" dirty="0"/>
              <a:t>: </a:t>
            </a:r>
            <a:r>
              <a:rPr lang="en-US" sz="1800" cap="none" dirty="0">
                <a:solidFill>
                  <a:schemeClr val="tx1"/>
                </a:solidFill>
              </a:rPr>
              <a:t>Revenue peaked in April 2022 before declining; further analysis is needed to stabilize growth. Average order value helps track customer spending and promotional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Product &amp; inventory</a:t>
            </a:r>
            <a:r>
              <a:rPr lang="en-US" sz="1800" cap="none" dirty="0"/>
              <a:t>: </a:t>
            </a:r>
            <a:r>
              <a:rPr lang="en-US" sz="1800" i="1" cap="none" dirty="0">
                <a:solidFill>
                  <a:schemeClr val="tx1"/>
                </a:solidFill>
              </a:rPr>
              <a:t>Set</a:t>
            </a:r>
            <a:r>
              <a:rPr lang="en-US" sz="1800" cap="none" dirty="0">
                <a:solidFill>
                  <a:schemeClr val="tx1"/>
                </a:solidFill>
              </a:rPr>
              <a:t> and </a:t>
            </a:r>
            <a:r>
              <a:rPr lang="en-US" sz="1800" i="1" cap="none" dirty="0">
                <a:solidFill>
                  <a:schemeClr val="tx1"/>
                </a:solidFill>
              </a:rPr>
              <a:t>Kurta</a:t>
            </a:r>
            <a:r>
              <a:rPr lang="en-US" sz="1800" cap="none" dirty="0">
                <a:solidFill>
                  <a:schemeClr val="tx1"/>
                </a:solidFill>
              </a:rPr>
              <a:t> drive demand, requiring dynamic restocking; </a:t>
            </a:r>
            <a:r>
              <a:rPr lang="en-US" sz="1800" i="1" cap="none" dirty="0">
                <a:solidFill>
                  <a:schemeClr val="tx1"/>
                </a:solidFill>
              </a:rPr>
              <a:t>dupatta, saree,</a:t>
            </a:r>
            <a:r>
              <a:rPr lang="en-US" sz="1800" cap="none" dirty="0">
                <a:solidFill>
                  <a:schemeClr val="tx1"/>
                </a:solidFill>
              </a:rPr>
              <a:t> and </a:t>
            </a:r>
            <a:r>
              <a:rPr lang="en-US" sz="1800" i="1" cap="none" dirty="0">
                <a:solidFill>
                  <a:schemeClr val="tx1"/>
                </a:solidFill>
              </a:rPr>
              <a:t>bottom</a:t>
            </a:r>
            <a:r>
              <a:rPr lang="en-US" sz="1800" cap="none" dirty="0">
                <a:solidFill>
                  <a:schemeClr val="tx1"/>
                </a:solidFill>
              </a:rPr>
              <a:t> have low sales, calling for optimized stocking.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Customer insights</a:t>
            </a:r>
            <a:r>
              <a:rPr lang="en-US" sz="1800" cap="none" dirty="0"/>
              <a:t>: </a:t>
            </a:r>
            <a:r>
              <a:rPr lang="en-US" sz="1800" cap="none" dirty="0">
                <a:solidFill>
                  <a:schemeClr val="tx1"/>
                </a:solidFill>
              </a:rPr>
              <a:t>key markets include Maharashtra, Karnataka, and Tamil Nadu, with Bengaluru, Hyderabad, and Mumbai as top cities; B2B vs. B2C patterns highlight the need for tailored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Returns &amp; cancellations</a:t>
            </a:r>
            <a:r>
              <a:rPr lang="en-US" sz="1800" cap="none" dirty="0"/>
              <a:t>: </a:t>
            </a:r>
            <a:r>
              <a:rPr lang="en-US" sz="1800" cap="none" dirty="0">
                <a:solidFill>
                  <a:schemeClr val="tx1"/>
                </a:solidFill>
              </a:rPr>
              <a:t>High issue rates in </a:t>
            </a:r>
            <a:r>
              <a:rPr lang="en-US" sz="1800" i="1" cap="none" dirty="0">
                <a:solidFill>
                  <a:schemeClr val="tx1"/>
                </a:solidFill>
              </a:rPr>
              <a:t>Set, Kurta, Western dress,</a:t>
            </a:r>
            <a:r>
              <a:rPr lang="en-US" sz="1800" cap="none" dirty="0">
                <a:solidFill>
                  <a:schemeClr val="tx1"/>
                </a:solidFill>
              </a:rPr>
              <a:t> and </a:t>
            </a:r>
            <a:r>
              <a:rPr lang="en-US" sz="1800" i="1" cap="none" dirty="0">
                <a:solidFill>
                  <a:schemeClr val="tx1"/>
                </a:solidFill>
              </a:rPr>
              <a:t>bottom</a:t>
            </a:r>
            <a:r>
              <a:rPr lang="en-US" sz="1800" cap="none" dirty="0">
                <a:solidFill>
                  <a:schemeClr val="tx1"/>
                </a:solidFill>
              </a:rPr>
              <a:t> categories point to improvements needed in quality, sizing, and descriptions.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Customer retention</a:t>
            </a:r>
            <a:r>
              <a:rPr lang="en-US" sz="1800" cap="none" dirty="0"/>
              <a:t>: </a:t>
            </a:r>
            <a:r>
              <a:rPr lang="en-US" sz="1800" cap="none" dirty="0">
                <a:solidFill>
                  <a:schemeClr val="tx1"/>
                </a:solidFill>
              </a:rPr>
              <a:t>Strong repeat purchase behavior indicates good loyalty that can be enhanced by reducing product issues and improving service.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cap="none" dirty="0"/>
              <a:t>Logistics &amp; fulfillment</a:t>
            </a:r>
            <a:r>
              <a:rPr lang="en-US" sz="1800" cap="none" dirty="0"/>
              <a:t>: </a:t>
            </a:r>
            <a:r>
              <a:rPr lang="en-US" sz="1800" cap="none" dirty="0">
                <a:solidFill>
                  <a:schemeClr val="tx1"/>
                </a:solidFill>
              </a:rPr>
              <a:t>Amazon handles higher order volumes; shifting high-demand </a:t>
            </a:r>
            <a:r>
              <a:rPr lang="en-US" sz="1800" cap="none" dirty="0" err="1">
                <a:solidFill>
                  <a:schemeClr val="tx1"/>
                </a:solidFill>
              </a:rPr>
              <a:t>skus</a:t>
            </a:r>
            <a:r>
              <a:rPr lang="en-US" sz="1800" cap="none" dirty="0">
                <a:solidFill>
                  <a:schemeClr val="tx1"/>
                </a:solidFill>
              </a:rPr>
              <a:t> to amazon and resolving unshipped orders can boost efficiency.</a:t>
            </a:r>
          </a:p>
        </p:txBody>
      </p:sp>
    </p:spTree>
    <p:extLst>
      <p:ext uri="{BB962C8B-B14F-4D97-AF65-F5344CB8AC3E}">
        <p14:creationId xmlns:p14="http://schemas.microsoft.com/office/powerpoint/2010/main" val="4102420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FDDD-1654-E265-943C-8181000D0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9EF215F-83B7-9909-9601-0B5AA31CA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36"/>
            <a:ext cx="9144000" cy="477837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/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2BB96-4E3E-91FE-77FF-F3EA55910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6" y="971549"/>
            <a:ext cx="10266948" cy="4914901"/>
          </a:xfrm>
        </p:spPr>
        <p:txBody>
          <a:bodyPr>
            <a:noAutofit/>
          </a:bodyPr>
          <a:lstStyle/>
          <a:p>
            <a:pPr algn="l"/>
            <a:r>
              <a:rPr lang="en-US" cap="none" dirty="0">
                <a:solidFill>
                  <a:schemeClr val="tx1"/>
                </a:solidFill>
              </a:rPr>
              <a:t>Based on the analysis, here are some recommendations: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Reduce returns &amp; cancellations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Improve product quality, sizing details, and descriptions for high-issue categories like </a:t>
            </a:r>
            <a:r>
              <a:rPr lang="en-US" i="1" cap="none" dirty="0">
                <a:solidFill>
                  <a:schemeClr val="tx1"/>
                </a:solidFill>
              </a:rPr>
              <a:t>Set, Kurta, Western dress,</a:t>
            </a:r>
            <a:r>
              <a:rPr lang="en-US" cap="none" dirty="0">
                <a:solidFill>
                  <a:schemeClr val="tx1"/>
                </a:solidFill>
              </a:rPr>
              <a:t> and </a:t>
            </a:r>
            <a:r>
              <a:rPr lang="en-US" i="1" cap="none" dirty="0">
                <a:solidFill>
                  <a:schemeClr val="tx1"/>
                </a:solidFill>
              </a:rPr>
              <a:t>bottom</a:t>
            </a:r>
            <a:r>
              <a:rPr lang="en-US" cap="none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Inventory optimization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Use dynamic restocking for fast-selling items (</a:t>
            </a:r>
            <a:r>
              <a:rPr lang="en-US" i="1" cap="none" dirty="0">
                <a:solidFill>
                  <a:schemeClr val="tx1"/>
                </a:solidFill>
              </a:rPr>
              <a:t>Set, Kurta</a:t>
            </a:r>
            <a:r>
              <a:rPr lang="en-US" cap="none" dirty="0">
                <a:solidFill>
                  <a:schemeClr val="tx1"/>
                </a:solidFill>
              </a:rPr>
              <a:t>) and avoid overstocking slow movers (</a:t>
            </a:r>
            <a:r>
              <a:rPr lang="en-US" i="1" cap="none" dirty="0">
                <a:solidFill>
                  <a:schemeClr val="tx1"/>
                </a:solidFill>
              </a:rPr>
              <a:t>dupatta, saree, bottom</a:t>
            </a:r>
            <a:r>
              <a:rPr lang="en-US" cap="none" dirty="0">
                <a:solidFill>
                  <a:schemeClr val="tx1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Fulfillment efficiency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Investigate unshipped amazon orders to improve delivery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Leverage amazon fulfillment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Allocate high-volume </a:t>
            </a:r>
            <a:r>
              <a:rPr lang="en-US" cap="none" dirty="0" err="1">
                <a:solidFill>
                  <a:schemeClr val="tx1"/>
                </a:solidFill>
              </a:rPr>
              <a:t>skus</a:t>
            </a:r>
            <a:r>
              <a:rPr lang="en-US" cap="none" dirty="0">
                <a:solidFill>
                  <a:schemeClr val="tx1"/>
                </a:solidFill>
              </a:rPr>
              <a:t> to amazon for faster and more reliable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Monitor merchant capacity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Track merchant-fulfilled volumes to ensure readiness for demand surges.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/>
              <a:t>Utilize sales insights</a:t>
            </a:r>
            <a:r>
              <a:rPr lang="en-US" cap="none" dirty="0"/>
              <a:t>: </a:t>
            </a:r>
            <a:r>
              <a:rPr lang="en-US" cap="none" dirty="0">
                <a:solidFill>
                  <a:schemeClr val="tx1"/>
                </a:solidFill>
              </a:rPr>
              <a:t>Apply weekly sales trends and B2B vs. B2C analysis for smarter staffing, inventory, and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328643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5B11-71E3-7D47-84CC-AA911EC0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51D82F-CA2F-B914-1BBB-3EFCF2CDB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6547" y="2891589"/>
            <a:ext cx="5678905" cy="107482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6600" b="1" dirty="0"/>
              <a:t>THANK YOU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ECFD9C8-2F25-1FEC-08BE-DCAF53632CE9}"/>
              </a:ext>
            </a:extLst>
          </p:cNvPr>
          <p:cNvSpPr txBox="1">
            <a:spLocks/>
          </p:cNvSpPr>
          <p:nvPr/>
        </p:nvSpPr>
        <p:spPr>
          <a:xfrm>
            <a:off x="1524000" y="3757864"/>
            <a:ext cx="9144000" cy="84622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</a:rPr>
              <a:t>LinkedIn id: </a:t>
            </a:r>
            <a:r>
              <a:rPr lang="en-US" sz="1400" b="1" dirty="0">
                <a:hlinkClick r:id="rId2"/>
              </a:rPr>
              <a:t>https://www.linkedin.com/in/amrita-saha-data-scientist-data-analyst-data-engineer/</a:t>
            </a:r>
            <a:endParaRPr lang="en-US" sz="1400" b="1" dirty="0"/>
          </a:p>
          <a:p>
            <a:r>
              <a:rPr lang="en-US" sz="1400" b="1" dirty="0">
                <a:solidFill>
                  <a:schemeClr val="tx1"/>
                </a:solidFill>
              </a:rPr>
              <a:t>GitHub: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https://github.com/Amrita8</a:t>
            </a:r>
          </a:p>
        </p:txBody>
      </p:sp>
    </p:spTree>
    <p:extLst>
      <p:ext uri="{BB962C8B-B14F-4D97-AF65-F5344CB8AC3E}">
        <p14:creationId xmlns:p14="http://schemas.microsoft.com/office/powerpoint/2010/main" val="1144429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2701</TotalTime>
  <Words>1443</Words>
  <Application>Microsoft Office PowerPoint</Application>
  <PresentationFormat>Widescreen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Unicode MS</vt:lpstr>
      <vt:lpstr>Calibri</vt:lpstr>
      <vt:lpstr>Century Gothic</vt:lpstr>
      <vt:lpstr>Wingdings 3</vt:lpstr>
      <vt:lpstr>Ion</vt:lpstr>
      <vt:lpstr>AN E-COMMERCE COMPANY'S PATH TO SUSTAINABLE GROWTH</vt:lpstr>
      <vt:lpstr>COMPANY’S BACKGROUND</vt:lpstr>
      <vt:lpstr>PROBLEM STATEMENT    </vt:lpstr>
      <vt:lpstr>Data Quality &amp; Preparation: Addressing missing values, correcting data types (e.g., date conversion), and defining valid orders were essential for reliable analysis. Data Structuring: Proper grouping by categories, states, cities, and fulfillment types required consistent categorization and handling inconsistencies. Business Interpretation: Translating metrics like cancellations, AOV, and fulfillment performance into actionable insights demanded strong business context. Data Limitations: The dataset lacked additional inputs (e.g., demographics, marketing, customer feedback), restricting deeper insights into customer behavior and market trends.  </vt:lpstr>
      <vt:lpstr>PowerPoint Presentation</vt:lpstr>
      <vt:lpstr>KPIS AND THEIR FORMULAS</vt:lpstr>
      <vt:lpstr>KPIS AND THEIR FORMULAS</vt:lpstr>
      <vt:lpstr>FINANCIAL PERFORMANCE ANALYSIS</vt:lpstr>
      <vt:lpstr>PowerPoint Presentation</vt:lpstr>
      <vt:lpstr>CUSTOMER INSIGHTS ANALYSIS</vt:lpstr>
      <vt:lpstr>PowerPoint Presentation</vt:lpstr>
      <vt:lpstr>CUSTOMER INSIGHTS ANALYSIS</vt:lpstr>
      <vt:lpstr>LOGISTICS &amp; FULFILLMENT OPTIMIZATION</vt:lpstr>
      <vt:lpstr>LOGISTICS &amp; FULFILLMENT OPTIMIZATION</vt:lpstr>
      <vt:lpstr>PRODUCT MANAGEMENT &amp; INVENTORY OPTIMIZATION</vt:lpstr>
      <vt:lpstr>PRODUCT MANAGEMENT &amp; INVENTORY OPTIMIZATION</vt:lpstr>
      <vt:lpstr>CUSTOMER SATISFACTION &amp; RETURNS</vt:lpstr>
      <vt:lpstr>CUSTOMER SATISFACTION &amp; RETURNS</vt:lpstr>
      <vt:lpstr>CONCLUSION ANALYSIS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Saha</dc:creator>
  <cp:lastModifiedBy>Amrita Saha</cp:lastModifiedBy>
  <cp:revision>28</cp:revision>
  <dcterms:created xsi:type="dcterms:W3CDTF">2025-05-08T07:36:58Z</dcterms:created>
  <dcterms:modified xsi:type="dcterms:W3CDTF">2025-08-22T09:46:53Z</dcterms:modified>
</cp:coreProperties>
</file>